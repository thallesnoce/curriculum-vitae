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 (1 min). Pergunta para a sala: quem já enviou currículo e nunca recebeu resposta? Combine a promessa: em 25 minutos você sai com uma página revisada e um checklist. Diga que tudo está no repositório — eles não precisam copiar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Os números servem de âncora — volte a eles no checklist do final. Sobre o ≈7s: é um estudo de eye-tracking, apresente como ordem de grandeza ("segundos, não minutos"). O ponto do "0 fotos": no Brasil a foto abre espaço para viés e não agrega nada técnico.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min. Não leia a agenda item por item — aponte os três blocos e vá embora. Reforce o quadro da direita: é o compromisso da palestra.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Conte que muitas empresas usam ATS e que o currículo é lido como texto puro. Exemplo prático: pedir para alguém da sala descrever o que ela olha primeiro em um currículo. Conclusão: design serve à leitura, não o contrário.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Este é o slide-conceito da palestra: tudo depois disso é execução. Frase para repetir: "currículo não é autobiografia, é candidatura". Peça que cada um pense na vaga que quer — vão usar isso no resto da palestra.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Percorra a ordem rapidamente e pare em dois pontos: (4) palavras-chave e (5) formação antes de experiência. Diga que a ordem é previsível de propósito: o recrutador sabe onde olhar sem procurar.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Slide rápido — é regra, não debate. Observação: o guia do repositório recomenda alinhamento à direita; o essencial para a plateia é consistência, então explique em voz alta a sua preferência e por quê. Sobre "1 página": antecipe a objeção de quem tem experiência — a resposta é curadoria, não fonte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Pergunta para a sala: quantos têm a URL do LinkedIn personalizada? Normalmente poucos — mostre que leva 30 segundos (Perfil &gt; Editar URL pública). Sobre email: evite apelido, número de nascimento e provedor abandonado.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30 s. Transição. Diga que os dois arquivos estão no repositório e que vocês vão comparar pedaço por pedaço. Se houver projetor bom, vale abrir os dois .docx lado a lado em vez de só mostrar os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Mostre o contraste do topo: é o pedaço que todo recrutador lê. Pergunta retórica: se cinco currículos chegam juntos, qual deles o recrutador consegue classificar sem abrir?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2.5 min. Faça ao vivo: abra uma vaga de estágio no LinkedIn e marque os termos. Reforce a honestidade: palavra-chave inflada volta como pergunta técnica na entrevista. Dica: nível de domínio ajuda (básico/intermediário/avançado) quando é honesto.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1.5 min. Mostre que ninguém lê currículo até o fim — então o topo precisa ser o melhor. Sobre gaps: não invente, contextualize ("dedicação integral aos estudos", "cuidado familiar", "transição de carreira").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O caso do "pizzaiolo no hospital" é real e arranca risada — use isso, mas feche com o aprendizado: o leitor não vai adivinhar, ele vai descartar. Peça para cada um reler o próprio currículo procurando ambiguidade.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 min — este é o slide mais importante do bloco, não corra. Exercício de 60 s: cada um reescreve UM bullet do próprio currículo usando a fórmula; peça dois voluntários para ler. Soft skill também precisa de evidência: "trabalho em equipe" sozinho não diz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2.5 min. Volte ao José Maria: ele não tem experiência em TI nenhuma e ainda assim tem um currículo defensável. Diga que esconder o emprego "sem relação" cria gap — e gap pesa mais que pizzaiolo. Se der tempo, cite o Guia de Carreira em TI do repositório para o que estudar em cada fase.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 min. O nome do arquivo é o detalhe que mais gera reação — cite o "curriculo final v3 (1).pdf" com humor. Teste de impressão: lembre que muita triagem ainda acontece em papel, em feira de carreira e processo interno.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1.5 min. Não leia os 16 itens. Diga que é o material de referência, aponte três que você considera os mais violados na prática (uma página, palavras-chave, bullet com resultado) e siga. O handout tem a lista completa.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 min + perguntas. Feche com o pedido de ação concreta (uma página revisada hoje). Deixe este slide no projetor durante as perguntas, para a plateia anotar os links. Se houver tempo, ofereça revisar currículo de voluntários ao vivo — é o melhor encerramento possível.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822960"/>
            <a:ext cx="3566160" cy="3566160"/>
          </a:xfrm>
          <a:prstGeom prst="ellipse">
            <a:avLst/>
          </a:prstGeom>
          <a:solidFill>
            <a:srgbClr val="14213D">
              <a:alpha val="0"/>
            </a:srgbClr>
          </a:solidFill>
          <a:ln w="25400">
            <a:solidFill>
              <a:srgbClr val="FCA3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4023360"/>
            <a:ext cx="2103120" cy="2103120"/>
          </a:xfrm>
          <a:prstGeom prst="ellipse">
            <a:avLst/>
          </a:prstGeom>
          <a:solidFill>
            <a:srgbClr val="14213D">
              <a:alpha val="0"/>
            </a:srgbClr>
          </a:solidFill>
          <a:ln w="127000">
            <a:solidFill>
              <a:srgbClr val="1D2E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744200" y="2286000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PALESTRA · 25 MINUTOS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6596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Montagem de</a:t>
            </a:r>
            <a:endParaRPr lang="en-US" sz="44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Currículo Competitivo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passar pelo filtro da máquina e pelos primeiros segundos do recrutador — em uma página.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8064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Thalles Noce</a:t>
            </a:r>
            <a:pPr indent="0" marL="0">
              <a:buNone/>
            </a:pPr>
            <a:r>
              <a:rPr lang="en-US" sz="13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github.com/thallesnoce/curriculum-vitae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números para começar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484632" y="1965960"/>
            <a:ext cx="2560320" cy="2788920"/>
          </a:xfrm>
          <a:prstGeom prst="roundRect">
            <a:avLst>
              <a:gd name="adj" fmla="val 2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84632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≈7s</a:t>
            </a:r>
            <a:endParaRPr lang="en-US" sz="5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6118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tempo da primeira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do recrutador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3364992" y="1965960"/>
            <a:ext cx="2560320" cy="2788920"/>
          </a:xfrm>
          <a:prstGeom prst="roundRect">
            <a:avLst>
              <a:gd name="adj" fmla="val 25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364992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6118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página, no máximo —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45352" y="1965960"/>
            <a:ext cx="2560320" cy="2788920"/>
          </a:xfrm>
          <a:prstGeom prst="roundRect">
            <a:avLst>
              <a:gd name="adj" fmla="val 25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45352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6118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telefone de contato</a:t>
            </a:r>
            <a:endParaRPr lang="en-US" sz="13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(WhatsApp serve)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25712" y="1965960"/>
            <a:ext cx="2560320" cy="2788920"/>
          </a:xfrm>
          <a:prstGeom prst="roundRect">
            <a:avLst>
              <a:gd name="adj" fmla="val 25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25712" y="237744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3611880"/>
            <a:ext cx="2157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fotos no currículo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120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D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resto da palestra é só consequência desses quatro: clareza antes de criatividade.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≈7s: estudo de eye-tracking com recrutadores (The Ladders). Trate como ordem de grandeza, não como lei.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caminho de hoje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1883664"/>
            <a:ext cx="512064" cy="51206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66928" y="188366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8288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lê o seu currículo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21284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leitores muito diferentes: o sistema (ATS) e a pessoa com pressa.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3182112"/>
            <a:ext cx="512064" cy="51206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66928" y="318211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312724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anatomia de uma página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511296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ordem das seções, a formatação e os dados de contato que importam.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4480560"/>
            <a:ext cx="512064" cy="51206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4805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425696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e depois, de verdade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80974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currículo real de estudante, corrigido erro por erro.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3880" y="1783080"/>
            <a:ext cx="3456432" cy="3931920"/>
          </a:xfrm>
          <a:prstGeom prst="roundRect">
            <a:avLst>
              <a:gd name="adj" fmla="val 185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503920" y="21031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leva daqui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503920" y="256032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checklist de 16 itens para rodar antes de enviar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de bullet que troca adjetivo por evidência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repositório com os dois modelos: o errado e o certo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currículo tem dois leitores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566928" cy="5669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máquina (ATS)</a:t>
            </a:r>
            <a:endParaRPr lang="en-US" sz="21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78892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texto, não design: tabelas, colunas e caixas viram sopa de letras.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as palavras-chave da vaga. O que não está escrito, não existe.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Gosta de seção com nome óbvio, uma coluna e arquivo simples.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91072" y="1737360"/>
            <a:ext cx="5349240" cy="3611880"/>
          </a:xfrm>
          <a:prstGeom prst="roundRect">
            <a:avLst>
              <a:gd name="adj" fmla="val 1772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11112" y="2011680"/>
            <a:ext cx="566928" cy="56692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611112" y="2011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342632" y="2084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humano (recrutador)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6702552" y="2788920"/>
            <a:ext cx="4617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Bate o olho no topo: nome, objetivo, formação, última experiência.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Procura motivo para eliminar — foto, três páginas, erro de português.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evidência: o que você fez e o que mudou por causa disso.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5577840"/>
            <a:ext cx="11091672" cy="713232"/>
          </a:xfrm>
          <a:prstGeom prst="roundRect">
            <a:avLst>
              <a:gd name="adj" fmla="val 8974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22960" y="5577840"/>
            <a:ext cx="10515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precisam dizer "sim". Um currículo bonito que o ATS não lê é um currículo que ninguém leu.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-731520"/>
            <a:ext cx="2651760" cy="2651760"/>
          </a:xfrm>
          <a:prstGeom prst="ellipse">
            <a:avLst/>
          </a:prstGeom>
          <a:solidFill>
            <a:srgbClr val="14213D">
              <a:alpha val="0"/>
            </a:srgbClr>
          </a:solidFill>
          <a:ln w="25400">
            <a:solidFill>
              <a:srgbClr val="FCA3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CRITÉRIO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Seu currículo responde uma pergunta só:</a:t>
            </a:r>
            <a:endParaRPr lang="en-US" sz="3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4813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i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“Por que você, para ESTA vaga?”</a:t>
            </a:r>
            <a:endParaRPr lang="en-US" sz="31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3520440" cy="3200400"/>
          </a:xfrm>
          <a:prstGeom prst="roundRect">
            <a:avLst>
              <a:gd name="adj" fmla="val 2000"/>
            </a:avLst>
          </a:prstGeom>
          <a:solidFill>
            <a:srgbClr val="27395C"/>
          </a:solidFill>
          <a:ln w="12700">
            <a:solidFill>
              <a:srgbClr val="3A4D74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41248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é para esta vaga?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39776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objetivo ao lado do nome responde isso no primeiro segundo. Um currículo genérico não serve para vaga nenhuma.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15968" y="2514600"/>
            <a:ext cx="3520440" cy="3200400"/>
          </a:xfrm>
          <a:prstGeom prst="roundRect">
            <a:avLst>
              <a:gd name="adj" fmla="val 2000"/>
            </a:avLst>
          </a:prstGeom>
          <a:solidFill>
            <a:srgbClr val="27395C"/>
          </a:solidFill>
          <a:ln w="12700">
            <a:solidFill>
              <a:srgbClr val="3A4D74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608576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CLAREZA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ler em segundos?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608576" y="39776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página, uma coluna, seções com nomes óbvios e ordem previsível. Nada de caça ao tesouro.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083296" y="2514600"/>
            <a:ext cx="3520440" cy="3200400"/>
          </a:xfrm>
          <a:prstGeom prst="roundRect">
            <a:avLst>
              <a:gd name="adj" fmla="val 2000"/>
            </a:avLst>
          </a:prstGeom>
          <a:solidFill>
            <a:srgbClr val="27395C"/>
          </a:solidFill>
          <a:ln w="12700">
            <a:solidFill>
              <a:srgbClr val="3A4D74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75904" y="27889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4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3154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Dá para acreditar?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8375904" y="397764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linha mostra ação e resultado. "Proativo" é adjetivo; "reduzi retrabalho" é evidência.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anatomia de uma página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84248"/>
            <a:ext cx="420624" cy="42062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35024" y="190195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+ Objetivo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35024" y="2212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cargo ao lado do nome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70632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971800"/>
            <a:ext cx="420624" cy="42062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9808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35024" y="288950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contato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35024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telefone, 1 email, LinkedIn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58184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959352"/>
            <a:ext cx="420624" cy="42062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49808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35024" y="387705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profissional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35024" y="4187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ou 4 linhas, sem clichê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745736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946904"/>
            <a:ext cx="420624" cy="42062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49808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35024" y="486460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35024" y="51755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aqui que o ATS te acha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91072" y="1783080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2240" y="1984248"/>
            <a:ext cx="420624" cy="42062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9224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7077456" y="190195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acadêmica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7077456" y="22128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vem ANTES da experiência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291072" y="2770632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2240" y="2971800"/>
            <a:ext cx="420624" cy="42062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0" y="29718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77456" y="288950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profissional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7077456" y="32004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mais recente para o mais antigo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291072" y="3758184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92240" y="3959352"/>
            <a:ext cx="420624" cy="42062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92240" y="395935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077456" y="387705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Certificações e cursos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077456" y="41879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carga horária, quando houver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291072" y="4745736"/>
            <a:ext cx="5349240" cy="822960"/>
          </a:xfrm>
          <a:prstGeom prst="roundRect">
            <a:avLst>
              <a:gd name="adj" fmla="val 777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92240" y="4946904"/>
            <a:ext cx="420624" cy="42062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92240" y="49469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077456" y="486460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Interesses e atividades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7077456" y="51755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te diferencia dos iguais</a:t>
            </a:r>
            <a:endParaRPr lang="en-US" sz="125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D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antes de experiência é a escolha certa para quem ainda estuda: é o seu ativo mais forte.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não se negocia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Fonte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786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Arial, 10 ou 12pt. Uma só, em todo o documento.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5968" y="18288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90288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Uniformidade</a:t>
            </a:r>
            <a:endParaRPr lang="en-US" sz="2100" dirty="0"/>
          </a:p>
        </p:txBody>
      </p:sp>
      <p:sp>
        <p:nvSpPr>
          <p:cNvPr id="9" name="Text 7"/>
          <p:cNvSpPr txBox="1"/>
          <p:nvPr/>
        </p:nvSpPr>
        <p:spPr>
          <a:xfrm>
            <a:off x="4590288" y="25786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tamanho do início ao fim. Título não precisa ser gigante.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83296" y="1828800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57616" y="208483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Espaçamento</a:t>
            </a:r>
            <a:endParaRPr lang="en-US" sz="2100" dirty="0"/>
          </a:p>
        </p:txBody>
      </p:sp>
      <p:sp>
        <p:nvSpPr>
          <p:cNvPr id="12" name="Text 10"/>
          <p:cNvSpPr txBox="1"/>
          <p:nvPr/>
        </p:nvSpPr>
        <p:spPr>
          <a:xfrm>
            <a:off x="8357616" y="2578608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buracos entre seções. Use indentação para separar.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13632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16966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Alinhamento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663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padrão só, do começo ao fim — sem alternar no meio.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15968" y="3913632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90288" y="416966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Extensão</a:t>
            </a:r>
            <a:endParaRPr lang="en-US" sz="2100" dirty="0"/>
          </a:p>
        </p:txBody>
      </p:sp>
      <p:sp>
        <p:nvSpPr>
          <p:cNvPr id="18" name="Text 16"/>
          <p:cNvSpPr txBox="1"/>
          <p:nvPr/>
        </p:nvSpPr>
        <p:spPr>
          <a:xfrm>
            <a:off x="4590288" y="4663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página. Mesmo com muita experiência: o resto vive no LinkedIn.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83296" y="3913632"/>
            <a:ext cx="3520440" cy="1828800"/>
          </a:xfrm>
          <a:prstGeom prst="roundRect">
            <a:avLst>
              <a:gd name="adj" fmla="val 3500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57616" y="416966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Foto</a:t>
            </a:r>
            <a:endParaRPr lang="en-US" sz="2100" dirty="0"/>
          </a:p>
        </p:txBody>
      </p:sp>
      <p:sp>
        <p:nvSpPr>
          <p:cNvPr id="21" name="Text 19"/>
          <p:cNvSpPr txBox="1"/>
          <p:nvPr/>
        </p:nvSpPr>
        <p:spPr>
          <a:xfrm>
            <a:off x="8357616" y="4663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inclua. Nem no cabeçalho, nem no canto.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CONTATO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Menos informação, mais resposta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697480"/>
          </a:xfrm>
          <a:prstGeom prst="roundRect">
            <a:avLst>
              <a:gd name="adj" fmla="val 2373"/>
            </a:avLst>
          </a:prstGeom>
          <a:solidFill>
            <a:srgbClr val="EAF4EE"/>
          </a:solidFill>
          <a:ln w="12700">
            <a:solidFill>
              <a:srgbClr val="CFE3D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704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INCLUA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487168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telefone só (WhatsApp serve)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profissional com o seu nome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escrito por extenso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C3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 e estado, se ajudar na vaga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91072" y="1691640"/>
            <a:ext cx="5349240" cy="2697480"/>
          </a:xfrm>
          <a:prstGeom prst="roundRect">
            <a:avLst>
              <a:gd name="adj" fmla="val 2373"/>
            </a:avLst>
          </a:prstGeom>
          <a:solidFill>
            <a:srgbClr val="FBEDEC"/>
          </a:solidFill>
          <a:ln w="12700">
            <a:solidFill>
              <a:srgbClr val="F0D5D3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83680" y="1938528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B5121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583680" y="193852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DEIXE DE FORA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6611112" y="2487168"/>
            <a:ext cx="4709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 completo e CEP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civil e documentos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14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4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segundo e o terceiro telefone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4375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6868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linkedin.com/in/seu-nome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321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extenso, não como link clicável.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4828032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Sobrevive à impressão em papel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customiza a URL e ela fica profissional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pessoa consegue digitar e chegar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005840"/>
            <a:ext cx="3840480" cy="3840480"/>
          </a:xfrm>
          <a:prstGeom prst="ellipse">
            <a:avLst/>
          </a:prstGeom>
          <a:solidFill>
            <a:srgbClr val="14213D">
              <a:alpha val="0"/>
            </a:srgbClr>
          </a:solidFill>
          <a:ln w="25400">
            <a:solidFill>
              <a:srgbClr val="FCA3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4480560"/>
            <a:ext cx="1828800" cy="1828800"/>
          </a:xfrm>
          <a:prstGeom prst="ellipse">
            <a:avLst/>
          </a:prstGeom>
          <a:solidFill>
            <a:srgbClr val="14213D">
              <a:alpha val="0"/>
            </a:srgbClr>
          </a:solidFill>
          <a:ln w="127000">
            <a:solidFill>
              <a:srgbClr val="1D2E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9202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 · ESTUDO DE CASO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228600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mesmo candidato,</a:t>
            </a:r>
            <a:endParaRPr lang="en-US" sz="40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currículos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1148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Maria, 18 anos, estudante de Análise e Desenvolvimento de Sistemas. Experiência: auxiliar administrativo, pizzaiolo e atendente. Mesmos fatos, duas leituras completamente diferentes.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1 E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cabeçalho entrega (ou esconde) a vaga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023360"/>
          </a:xfrm>
          <a:prstGeom prst="roundRect">
            <a:avLst>
              <a:gd name="adj" fmla="val 1591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512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38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2377440"/>
            <a:ext cx="4754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5840" y="2542032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Maria Da Silva Santos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Telefone: (31) 9 9xxx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xxxx@gmail.com - LinkedIn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Nacionalidade: Brasileira - Idade: 18 anos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2062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sozinho: nada diz a que vaga ele concorre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"LinkedIn" sem URL — não dá para chegar ao perfil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e dados pessoais amontoados na mesma linha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5349240" cy="4023360"/>
          </a:xfrm>
          <a:prstGeom prst="roundRect">
            <a:avLst>
              <a:gd name="adj" fmla="val 1591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9385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70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377440"/>
            <a:ext cx="4754880" cy="169164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48272" y="2542032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José Maria Da Silva Santos  —  Estágio em Análise e Desenvolvimento de Sistemas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Telefone: (31) 9 9xxx (WhatsApp)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Email: xxxx@gmail.com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LinkedIn: linkedin.com/in/xxxx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420624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7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ao lado do nome: a vaga aparece em 1 segundo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7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completa, digitável e que sobrevive à impressão</a:t>
            </a:r>
            <a:endParaRPr lang="en-US" sz="1300" dirty="0"/>
          </a:p>
          <a:p>
            <a:pPr marL="342900" indent="-342900">
              <a:lnSpc>
                <a:spcPts val="1700"/>
              </a:lnSpc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1B7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telefone, um email, uma linha para cada coisa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palavras-chave, o ATS não te encontra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2514600"/>
          </a:xfrm>
          <a:prstGeom prst="roundRect">
            <a:avLst>
              <a:gd name="adj" fmla="val 2545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512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38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2377440"/>
            <a:ext cx="4754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05840" y="23774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 seção não existe)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40156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tecnologia escrita em lugar nenhum. Para a busca do recrutador, esse candidato não programa.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91072" y="1691640"/>
            <a:ext cx="5349240" cy="2514600"/>
          </a:xfrm>
          <a:prstGeom prst="roundRect">
            <a:avLst>
              <a:gd name="adj" fmla="val 2545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83680" y="19385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704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0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2377440"/>
            <a:ext cx="4754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748272" y="2487168"/>
            <a:ext cx="4434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Palavras-chave:</a:t>
            </a:r>
            <a:endParaRPr lang="en-US" sz="11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Linguagens de Programação: C#, C, Python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611112" y="340156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7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linhas resolvem. Agora ele aparece na busca por "C#", por "Python" e por "estágio desenvolvimento".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91672" cy="1554480"/>
          </a:xfrm>
          <a:prstGeom prst="roundRect">
            <a:avLst>
              <a:gd name="adj" fmla="val 411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68680" y="46451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achar as palavras-chave? No anúncio da vaga.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7492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Leia a descrição, liste os termos técnicos que você realmente domina e use as mesmas palavras que a empresa usou. "Banco de dados relacional" e "SQL" não são a mesma busca. Nunca escreva o que não sabe: isso aparece na entrevista.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4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ordem errada enterra o que importa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291840"/>
          </a:xfrm>
          <a:prstGeom prst="roundRect">
            <a:avLst>
              <a:gd name="adj" fmla="val 1944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5121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3852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41248" y="2395728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4688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2018 – Dez 2019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688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Pizzaiolo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" y="3172968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32461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Ago 2019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926080" y="32461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 (freelancer)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41248" y="3950208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40233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2022 – Set 2023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926080" y="402336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 Administrativo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91072" y="1691640"/>
            <a:ext cx="5349240" cy="3291840"/>
          </a:xfrm>
          <a:prstGeom prst="roundRect">
            <a:avLst>
              <a:gd name="adj" fmla="val 1944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193852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70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19385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0" y="2395728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48272" y="24688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 2022 – Set 2023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668512" y="246888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 Administrativo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83680" y="3172968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48272" y="324612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– Ago 2019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668512" y="324612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Atendente (freelancer)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3950208"/>
            <a:ext cx="475488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48272" y="40233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7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Fev 2018 – Dez 2019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668512" y="4023360"/>
            <a:ext cx="2560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Pizzaiolo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841248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crescente: o recrutador vê primeiro o emprego menos relevante.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58368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7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decrescente: a experiência mais recente — e mais próxima da vaga — primeiro.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D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para formação também. E se houver um intervalo longo sem nada: contextualize em uma linha — o recrutador vai notar de qualquer forma.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5 E 6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Dois detalhes que custam a entrevista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023360"/>
          </a:xfrm>
          <a:prstGeom prst="roundRect">
            <a:avLst>
              <a:gd name="adj" fmla="val 1591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38528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41248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26464" y="19568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 cargo embolados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" y="2542032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05840" y="254203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São JoãoPizzaiolo | Fevereiro 2018 – Dezembro 2019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401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1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lê entende que você foi pizzaiolo no hospital.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38862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em uma linha, cargo e período na linha de baixo, com indentação. Quando houver dois cargos na mesma empresa, agrupe os dois sob ela — isso mostra progressão, não confusão.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91072" y="1691640"/>
            <a:ext cx="5349240" cy="4023360"/>
          </a:xfrm>
          <a:prstGeom prst="roundRect">
            <a:avLst>
              <a:gd name="adj" fmla="val 1591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0" y="1938528"/>
            <a:ext cx="457200" cy="45720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68896" y="19568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sem previsão de término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583680" y="2542032"/>
            <a:ext cx="4754880" cy="731520"/>
          </a:xfrm>
          <a:prstGeom prst="roundRect">
            <a:avLst>
              <a:gd name="adj" fmla="val 8750"/>
            </a:avLst>
          </a:prstGeom>
          <a:solidFill>
            <a:srgbClr val="FFFFFF"/>
          </a:solidFill>
          <a:ln w="12700">
            <a:solidFill>
              <a:srgbClr val="D7DFEC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6748272" y="2542032"/>
            <a:ext cx="4434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...com formação em Análise e Desenvolvimento de Sistemas (conclusão prevista para 06/2027)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611112" y="3401568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70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estágio, a data de formatura é critério de corte.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3886200"/>
            <a:ext cx="4709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formação leva início e fim. Curso em andamento leva a previsão de conclusão — no resumo e na seção de formação. Curso livre com carga horária: informe as horas.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7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vago ao concreto: a fórmula do bullet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14213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45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DE AÇÃO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069080" y="16459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5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14213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80560" y="1645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FEZ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01000" y="164592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A5B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520440" cy="566928"/>
          </a:xfrm>
          <a:prstGeom prst="roundRect">
            <a:avLst>
              <a:gd name="adj" fmla="val 16129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412480" y="1645920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2487168"/>
            <a:ext cx="5349240" cy="2103120"/>
          </a:xfrm>
          <a:prstGeom prst="roundRect">
            <a:avLst>
              <a:gd name="adj" fmla="val 304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41248" y="2724912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B5121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124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18211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"Contribui para a organização dos processos operacionais, o que reforçou a eficiência e a padronização dos serviços prestados."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91072" y="2487168"/>
            <a:ext cx="5349240" cy="2103120"/>
          </a:xfrm>
          <a:prstGeom prst="roundRect">
            <a:avLst>
              <a:gd name="adj" fmla="val 3043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83680" y="2724912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1B7046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0" y="272491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6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11112" y="3182112"/>
            <a:ext cx="4709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"Padronizei o atendimento em um checklist de 3 etapas e treinei 4 colegas — caiu o retrabalho e o tempo de espera no horário de pico."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841248" y="4956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tem número?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41248" y="52852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o que mudou: "antes era assim, depois ficou assim". Mudança vale mais que estimativa inventada.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91072" y="4800600"/>
            <a:ext cx="5349240" cy="1325880"/>
          </a:xfrm>
          <a:prstGeom prst="roundRect">
            <a:avLst>
              <a:gd name="adj" fmla="val 482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6583680" y="49560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verbal consistente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583680" y="52852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 que acabou vai no passado ("padronizei"). Competência atual fica no infinitivo ("desenvolver em C#").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OBJEÇÃO MAIS COMUM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"Mas eu não tenho experiência"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04672" y="19568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da faculdade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04672" y="2542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de disciplina conta: diga o problema, a stack e o resultado.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9568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 portfólio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542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repositórios com README decente valem mais que dez abandonados.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39328" y="195681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e bicos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39328" y="254203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do vizinho, planilha da igreja, bot do grupo — é entrega real.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04672" y="38770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fora de TI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04672" y="44622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Pizzaiolo, atendente, caixa: processo, qualidade, prazo e pressão.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15968" y="365760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572000" y="38770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Voluntariado e comunidade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4622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Sonoplastia, organização de evento, monitoria: responsabilidade e equipe.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83296" y="3657600"/>
            <a:ext cx="3520440" cy="1691640"/>
          </a:xfrm>
          <a:prstGeom prst="roundRect">
            <a:avLst>
              <a:gd name="adj" fmla="val 3784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339328" y="387705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Cursos e certificações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39328" y="4462272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carga horária. Trilha coerente conta mais que certificado solto.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D2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Traduza, não omita: o que você fez fora de TI vira competência em TI quando você escreve o processo, e não o cargo.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anexar o arquivo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7635240" cy="868680"/>
          </a:xfrm>
          <a:prstGeom prst="roundRect">
            <a:avLst>
              <a:gd name="adj" fmla="val 736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56816"/>
            <a:ext cx="438912" cy="43891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5681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89888" y="185623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 por vaga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89888" y="216712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Espelhe o vocabulário do anúncio. Currículo único para tudo é currículo para nada.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761488"/>
            <a:ext cx="7635240" cy="868680"/>
          </a:xfrm>
          <a:prstGeom prst="roundRect">
            <a:avLst>
              <a:gd name="adj" fmla="val 736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980944"/>
            <a:ext cx="438912" cy="43891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9809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89888" y="2880360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do arquivo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89888" y="319125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Nome_Sobrenome_Curriculo.pdf — nunca "curriculo final v3 (1).pdf".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85616"/>
            <a:ext cx="7635240" cy="868680"/>
          </a:xfrm>
          <a:prstGeom prst="roundRect">
            <a:avLst>
              <a:gd name="adj" fmla="val 736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005072"/>
            <a:ext cx="438912" cy="43891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00507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390448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impressão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389888" y="421538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 em preto e branco: URL, telefone e email precisam ficar legíveis.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09744"/>
            <a:ext cx="7635240" cy="868680"/>
          </a:xfrm>
          <a:prstGeom prst="roundRect">
            <a:avLst>
              <a:gd name="adj" fmla="val 7368"/>
            </a:avLst>
          </a:prstGeom>
          <a:solidFill>
            <a:srgbClr val="EDF1F7"/>
          </a:solidFill>
          <a:ln w="12700">
            <a:solidFill>
              <a:srgbClr val="EDF1F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029200"/>
            <a:ext cx="438912" cy="438912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5029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389888" y="492861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de terceiro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389888" y="5239512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5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de confiança lê gramática, datas e coerência. Você não vê seu próprio erro.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03920" y="1737360"/>
            <a:ext cx="3136392" cy="3995928"/>
          </a:xfrm>
          <a:prstGeom prst="roundRect">
            <a:avLst>
              <a:gd name="adj" fmla="val 2041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8778240" y="1993392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ou DOCX?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0" y="239572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preserva o layout e é o padrão. Envie DOCX quando a vaga ou a agência pedir — algumas usam o arquivo editável no processo.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0" y="39319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Candidate-se cedo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778240" y="4334256"/>
            <a:ext cx="2606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nova recebe dezenas de candidaturas nas primeiras horas. Ter o currículo pronto é o que permite ser rápido.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40" kern="0" dirty="0">
                <a:solidFill>
                  <a:srgbClr val="9A5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ISSO COM VOCÊ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antes de clicar em enviar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94360" y="18288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Formatação uniforme: uma fonte, um tamanho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23317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6012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página, sem foto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2834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telefone, email profissional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94360" y="3337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por extenso, sem link clicável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" y="38404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endereço completo, CEP ou estado civil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94360" y="43434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6012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ao lado do nome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48463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de palavras-chave preenchida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4360" y="5349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6012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com início e fim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309360" y="18288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751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conclusão nos cursos em andamento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09360" y="23317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2286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 experiência em ordem decrescente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309360" y="2834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27889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e cargo claramente separados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6309360" y="333756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7512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Bullets com ação e resultado, não adjetivo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309360" y="38404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37947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verbal consistente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309360" y="43434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42976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 com exemplo concreto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309360" y="48463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675120" y="4800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intervalos sem contexto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6309360" y="53492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1D2E5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675120" y="5303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Revisado por outra pessoa e testado na impressão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87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16 itens, a fórmula do bullet e os dois modelos de currículo estão no repositório — e no handout desta palestra.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663440" y="4983480"/>
            <a:ext cx="2240280" cy="2240280"/>
          </a:xfrm>
          <a:prstGeom prst="ellipse">
            <a:avLst/>
          </a:prstGeom>
          <a:solidFill>
            <a:srgbClr val="14213D">
              <a:alpha val="0"/>
            </a:srgbClr>
          </a:solidFill>
          <a:ln w="25400">
            <a:solidFill>
              <a:srgbClr val="FCA3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88920" y="6172200"/>
            <a:ext cx="1371600" cy="1371600"/>
          </a:xfrm>
          <a:prstGeom prst="ellipse">
            <a:avLst/>
          </a:prstGeom>
          <a:solidFill>
            <a:srgbClr val="14213D">
              <a:alpha val="0"/>
            </a:srgbClr>
          </a:solidFill>
          <a:ln w="127000">
            <a:solidFill>
              <a:srgbClr val="1D2E5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73736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Hoje à noite: uma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página, revisada.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4290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seu currículo, rode o checklist e peça para uma pessoa ler. Currículo competitivo não é talento: é revisão.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50749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CA3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223760" y="1691640"/>
            <a:ext cx="4416552" cy="4023360"/>
          </a:xfrm>
          <a:prstGeom prst="roundRect">
            <a:avLst>
              <a:gd name="adj" fmla="val 1591"/>
            </a:avLst>
          </a:prstGeom>
          <a:solidFill>
            <a:srgbClr val="27395C"/>
          </a:solidFill>
          <a:ln w="12700">
            <a:solidFill>
              <a:srgbClr val="3A4D74"/>
            </a:solidFill>
            <a:prstDash val="solid"/>
          </a:ln>
          <a:effectLst>
            <a:outerShdw sx="100000" sy="100000" kx="0" ky="0" algn="bl" rotWithShape="0" blurRad="127000" dist="12700" dir="5400000">
              <a:srgbClr val="8A93A6">
                <a:alpha val="2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498080" y="19385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498080" y="23957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currículo e checklist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267004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github.com/thallesnoce/curriculum-vitae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32369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meu currículo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0" y="35112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montameucurriculo.com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498080" y="407822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complementar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435254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youtu.be/npQSYTmuXTE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498080" y="49194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mesmo repositório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0" y="519379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3CF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Busca de Emprego · Guia de Carreira em TI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Montagem de Currículo Competitivo</dc:title>
  <dc:subject>Palestra para universitários — 20 a 30 minutos</dc:subject>
  <dc:creator>Thalles Noce</dc:creator>
  <cp:lastModifiedBy>Thalles Noce</cp:lastModifiedBy>
  <cp:revision>1</cp:revision>
  <dcterms:created xsi:type="dcterms:W3CDTF">2026-10-01T21:51:26Z</dcterms:created>
  <dcterms:modified xsi:type="dcterms:W3CDTF">2026-10-01T21:51:26Z</dcterms:modified>
</cp:coreProperties>
</file>